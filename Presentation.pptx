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</p:sldIdLst>
  <p:sldSz cx="9144000" cy="5143500" type="screen16x9"/>
  <p:notesSz cx="6858000" cy="9144000"/>
  <p:embeddedFontLst>
    <p:embeddedFont>
      <p:font typeface="Nunito" pitchFamily="2" charset="0"/>
      <p:regular r:id="rId19"/>
      <p:bold r:id="rId20"/>
      <p:italic r:id="rId21"/>
      <p:boldItalic r:id="rId22"/>
    </p:embeddedFont>
    <p:embeddedFont>
      <p:font typeface="Quicksan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17">
          <p15:clr>
            <a:srgbClr val="747775"/>
          </p15:clr>
        </p15:guide>
        <p15:guide id="2" orient="horz" pos="1247">
          <p15:clr>
            <a:srgbClr val="747775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8" y="402"/>
      </p:cViewPr>
      <p:guideLst>
        <p:guide orient="horz" pos="1417"/>
        <p:guide orient="horz" pos="12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4eafab9c4_0_1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4eafab9c4_0_1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4f398d470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4f398d470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4f398d470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4f398d470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4f398d470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4f398d470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4f398d470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24f398d470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4f398d470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24f398d470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4f398d470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4f398d470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4f398d470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24f398d470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4f398d470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24f398d470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4f398d470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24f398d470_1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4f398d470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24f398d470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24f398d470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24f398d470_1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24f398d47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24f398d47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4f398d470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24f398d470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4eafab9c4_0_6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24eafab9c4_0_6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5" name="Google Shape;85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2" name="Google Shape;92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0" name="Google Shape;100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6" name="Google Shape;106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3" name="Google Shape;113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4" name="Google Shape;114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8" name="Google Shape;118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2" name="Google Shape;122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8" name="Google Shape;128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2" name="Google Shape;142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3" name="Google Shape;143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8" name="Google Shape;148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4" name="Google Shape;15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59" name="Google Shape;15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" name="Google Shape;162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3" name="Google Shape;163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69" name="Google Shape;169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" name="Google Shape;173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4" name="Google Shape;174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8" name="Google Shape;178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4" name="Google Shape;184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89" name="Google Shape;189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4" name="Google Shape;194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8" name="Google Shape;198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" name="Google Shape;202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3" name="Google Shape;203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7" name="Google Shape;207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8" name="Google Shape;208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4" name="Google Shape;214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" name="Google Shape;218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19" name="Google Shape;219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3" name="Google Shape;223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" name="Google Shape;227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8" name="Google Shape;228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" name="Google Shape;233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4" name="Google Shape;234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39" name="Google Shape;239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" name="Google Shape;242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3" name="Google Shape;243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8" name="Google Shape;248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49" name="Google Shape;249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4" name="Google Shape;254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59" name="Google Shape;259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" name="Google Shape;262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3" name="Google Shape;263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7" name="Google Shape;267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" name="Google Shape;268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24810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Quicksand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0" y="883800"/>
            <a:ext cx="91440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i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197354" y="1088002"/>
            <a:ext cx="7177800" cy="21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u="sng" dirty="0">
                <a:latin typeface="Quicksand"/>
                <a:ea typeface="Quicksand"/>
                <a:cs typeface="Quicksand"/>
                <a:sym typeface="Quicksand"/>
              </a:rPr>
              <a:t>Course: </a:t>
            </a:r>
            <a:r>
              <a:rPr lang="en-GB" sz="2700" b="1" dirty="0">
                <a:latin typeface="Quicksand"/>
                <a:ea typeface="Quicksand"/>
                <a:cs typeface="Quicksand"/>
                <a:sym typeface="Quicksand"/>
              </a:rPr>
              <a:t> Data Mining</a:t>
            </a:r>
            <a:endParaRPr sz="27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u="sng" dirty="0">
                <a:latin typeface="Quicksand"/>
                <a:ea typeface="Quicksand"/>
                <a:cs typeface="Quicksand"/>
                <a:sym typeface="Quicksand"/>
              </a:rPr>
              <a:t>Lecturer:</a:t>
            </a:r>
            <a:r>
              <a:rPr lang="en-GB" sz="2700" b="1" dirty="0">
                <a:latin typeface="Quicksand"/>
                <a:ea typeface="Quicksand"/>
                <a:cs typeface="Quicksand"/>
                <a:sym typeface="Quicksand"/>
              </a:rPr>
              <a:t> Chen </a:t>
            </a:r>
            <a:r>
              <a:rPr lang="en-GB" sz="2700" b="1" dirty="0" err="1">
                <a:latin typeface="Quicksand"/>
                <a:ea typeface="Quicksand"/>
                <a:cs typeface="Quicksand"/>
                <a:sym typeface="Quicksand"/>
              </a:rPr>
              <a:t>Hajaj</a:t>
            </a:r>
            <a:br>
              <a:rPr lang="en-GB" sz="2700" b="1" dirty="0">
                <a:latin typeface="Quicksand"/>
                <a:ea typeface="Quicksand"/>
                <a:cs typeface="Quicksand"/>
                <a:sym typeface="Quicksand"/>
              </a:rPr>
            </a:br>
            <a:endParaRPr sz="27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u="sng" dirty="0">
                <a:latin typeface="Quicksand"/>
                <a:ea typeface="Quicksand"/>
                <a:cs typeface="Quicksand"/>
                <a:sym typeface="Quicksand"/>
              </a:rPr>
              <a:t>Team Members:</a:t>
            </a:r>
            <a:r>
              <a:rPr lang="en-GB" sz="2700" b="1" dirty="0">
                <a:latin typeface="Quicksand"/>
                <a:ea typeface="Quicksand"/>
                <a:cs typeface="Quicksand"/>
                <a:sym typeface="Quicksand"/>
              </a:rPr>
              <a:t>  Gal Ben </a:t>
            </a:r>
            <a:r>
              <a:rPr lang="en-GB" sz="2700" b="1" dirty="0" err="1">
                <a:latin typeface="Quicksand"/>
                <a:ea typeface="Quicksand"/>
                <a:cs typeface="Quicksand"/>
                <a:sym typeface="Quicksand"/>
              </a:rPr>
              <a:t>Lulu,Itay</a:t>
            </a:r>
            <a:r>
              <a:rPr lang="en-GB" sz="2700" b="1" dirty="0">
                <a:latin typeface="Quicksand"/>
                <a:ea typeface="Quicksand"/>
                <a:cs typeface="Quicksand"/>
                <a:sym typeface="Quicksand"/>
              </a:rPr>
              <a:t> Habsha</a:t>
            </a:r>
            <a:endParaRPr sz="19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78" name="Google Shape;2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924" y="3400150"/>
            <a:ext cx="3070148" cy="15416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Google Shape;283;p14">
            <a:extLst>
              <a:ext uri="{FF2B5EF4-FFF2-40B4-BE49-F238E27FC236}">
                <a16:creationId xmlns:a16="http://schemas.microsoft.com/office/drawing/2014/main" id="{FD8156DE-BAC4-8C40-7815-91E60600FF99}"/>
              </a:ext>
            </a:extLst>
          </p:cNvPr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600" b="1" u="sng" dirty="0">
                <a:solidFill>
                  <a:srgbClr val="000000"/>
                </a:solidFill>
              </a:rPr>
              <a:t>Analysis and Modelling of Vehicle</a:t>
            </a:r>
            <a:r>
              <a:rPr lang="en-US" sz="3600" b="1" u="sng" dirty="0"/>
              <a:t>s</a:t>
            </a:r>
            <a:r>
              <a:rPr lang="en-GB" sz="3600" b="1" u="sng" dirty="0">
                <a:solidFill>
                  <a:srgbClr val="000000"/>
                </a:solidFill>
              </a:rPr>
              <a:t> </a:t>
            </a:r>
            <a:endParaRPr sz="1600" b="1" u="sng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 dirty="0">
                <a:latin typeface="Quicksand"/>
                <a:ea typeface="Quicksand"/>
                <a:cs typeface="Quicksand"/>
                <a:sym typeface="Quicksand"/>
              </a:rPr>
              <a:t>The problem</a:t>
            </a: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Missing Values: Required careful imputation to maintain data integrity.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Outliers: Needed robust handling to prevent distortion.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 u="sng">
                <a:latin typeface="Quicksand"/>
                <a:ea typeface="Quicksand"/>
                <a:cs typeface="Quicksand"/>
                <a:sym typeface="Quicksand"/>
              </a:rPr>
              <a:t>Supervised Learning:</a:t>
            </a:r>
            <a:endParaRPr sz="1500" b="1" u="sng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Class Imbalance: Challenged fair model training across pollution levels.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Feature Overload: Too many features post-encoding complicated identifying key predictors.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 u="sng">
                <a:latin typeface="Quicksand"/>
                <a:ea typeface="Quicksand"/>
                <a:cs typeface="Quicksand"/>
                <a:sym typeface="Quicksand"/>
              </a:rPr>
              <a:t>Unsupervised Learning: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Hidden Patterns: Focused on uncovering valuable insights in vehicle data.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High Dimensionality: Required handling complex, non-linear relationships.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Clustering: Challenged by identifying coherent and meaningful groups.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Unexpected Findings: Needed interpretation of surprising data trends.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Research Goals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u="sng">
                <a:latin typeface="Quicksand"/>
                <a:ea typeface="Quicksand"/>
                <a:cs typeface="Quicksand"/>
                <a:sym typeface="Quicksand"/>
              </a:rPr>
              <a:t>Supervised learning: </a:t>
            </a:r>
            <a:endParaRPr sz="17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For the supervised learning task, the focus is on predicting the pollution level of vehicles.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Pollution Level Categories: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Low Pollution Level (1): Environmentally friendly vehicles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Medium Pollution Level (2): Vehicles with moderate emissions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High Pollution Level (3): Vehicles with significant environmental impact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700" u="sng">
                <a:latin typeface="Quicksand"/>
                <a:ea typeface="Quicksand"/>
                <a:cs typeface="Quicksand"/>
                <a:sym typeface="Quicksand"/>
              </a:rPr>
              <a:t>Unsupervised Learning:</a:t>
            </a:r>
            <a:endParaRPr sz="17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This process helps to identify relationships and trends that may not be immediately obvious, offering additional insights into vehicle pollution trends.</a:t>
            </a:r>
            <a:endParaRPr sz="15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/>
        </p:nvSpPr>
        <p:spPr>
          <a:xfrm>
            <a:off x="0" y="0"/>
            <a:ext cx="9144000" cy="122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000" b="1" dirty="0">
                <a:latin typeface="Quicksand"/>
                <a:ea typeface="Quicksand"/>
                <a:cs typeface="Quicksand"/>
                <a:sym typeface="Quicksand"/>
              </a:rPr>
              <a:t>Methods used to problem’s domain</a:t>
            </a:r>
            <a:endParaRPr sz="30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Missing Values: Imputed missing data using statistical methods (median/mode) and logical mappings based on feature relationships.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Outliers: Addressed using the IQR method and category-specific thresholds, clipping extreme values to maintain consistency.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>
                <a:latin typeface="Quicksand"/>
                <a:ea typeface="Quicksand"/>
                <a:cs typeface="Quicksand"/>
                <a:sym typeface="Quicksand"/>
              </a:rPr>
              <a:t>Supervised Learning:</a:t>
            </a: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Class Imbalance (Supervised Learning): Applied SMOTE to generate synthetic samples and balance the class distribution.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Feature Overload (Supervised Learning): Used feature importance analysis (Random Forest) to select the most impactful predictors and reduce dimensionality.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u="sng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000" b="1" dirty="0">
                <a:latin typeface="Quicksand"/>
                <a:ea typeface="Quicksand"/>
                <a:cs typeface="Quicksand"/>
                <a:sym typeface="Quicksand"/>
              </a:rPr>
              <a:t>Methods used to problem’s domain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0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Unsupervised Learning:</a:t>
            </a:r>
            <a:endParaRPr lang="en-GB"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buSzPts val="1500"/>
              <a:buFont typeface="Quicksand"/>
              <a:buChar char="-"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High Dimensionality (Unsupervised Learning): Utilized dimensionality reduction techniques such as PCA and Kernel PCA to simplify the dataset while retaining key information.</a:t>
            </a:r>
            <a:br>
              <a:rPr lang="en-GB" sz="1500" dirty="0">
                <a:latin typeface="Quicksand"/>
                <a:ea typeface="Quicksand"/>
                <a:cs typeface="Quicksand"/>
                <a:sym typeface="Quicksand"/>
              </a:rPr>
            </a:b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457200" indent="-323850">
              <a:lnSpc>
                <a:spcPct val="115000"/>
              </a:lnSpc>
              <a:buSzPts val="1500"/>
              <a:buFont typeface="Quicksand"/>
              <a:buChar char="-"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Hidden Patterns (Unsupervised Learning): Applied clustering algorithms like K-Means and hierarchical clustering to uncover latent trends.</a:t>
            </a:r>
            <a:br>
              <a:rPr lang="en-GB" sz="1500" dirty="0">
                <a:latin typeface="Quicksand"/>
                <a:ea typeface="Quicksand"/>
                <a:cs typeface="Quicksand"/>
                <a:sym typeface="Quicksand"/>
              </a:rPr>
            </a:b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Clustering: Validated clustering results using Silhouette Score and the Elbow Method to ensure coherence and reliability.</a:t>
            </a:r>
            <a:br>
              <a:rPr lang="en-GB" sz="1500" dirty="0">
                <a:latin typeface="Quicksand"/>
                <a:ea typeface="Quicksand"/>
                <a:cs typeface="Quicksand"/>
                <a:sym typeface="Quicksand"/>
              </a:rPr>
            </a:b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Unexpected Findings: Analysed the impact of external factors, such as regulatory changes, to contextualize and explain surprising trends in the data.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Dataset and Features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>
                <a:latin typeface="Quicksand"/>
                <a:ea typeface="Quicksand"/>
                <a:cs typeface="Quicksand"/>
                <a:sym typeface="Quicksand"/>
              </a:rPr>
              <a:t>Api:</a:t>
            </a: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The dataset was obtained through an open API available on</a:t>
            </a:r>
            <a:r>
              <a:rPr lang="en-GB" sz="1500"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/>
              </a:rPr>
              <a:t> </a:t>
            </a:r>
            <a:r>
              <a:rPr lang="en-GB" sz="15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Data.gov.il</a:t>
            </a: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>
                <a:latin typeface="Quicksand"/>
                <a:ea typeface="Quicksand"/>
                <a:cs typeface="Quicksand"/>
                <a:sym typeface="Quicksand"/>
              </a:rPr>
              <a:t>Features: </a:t>
            </a: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The dataset contains information about vehicles in Israel, including vehicle ID, vehicle type, fuel type, pollution level, manufacturing year, and other relevant details. 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The dataset contains approximately 25,000 records with 26 columns.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>
                <a:latin typeface="Quicksand"/>
                <a:ea typeface="Quicksand"/>
                <a:cs typeface="Quicksand"/>
                <a:sym typeface="Quicksand"/>
              </a:rPr>
              <a:t>Examples of features:</a:t>
            </a: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Quicksand"/>
              <a:buAutoNum type="arabicParenR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kvutzat_zihum: Numeric identifier for the pollution group to which the vehicle belongs.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AutoNum type="arabicParenR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moed_aliya_lakvish: Text column indicating the date the vehicle was imported.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AutoNum type="arabicParenR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kinuy_mishari: A textual field providing the commercial designation of the vehicle.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AutoNum type="arabicParenR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mishkal_kolel: A numerical value indicating the vehicle's total weight.  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Methodology- Supervised Learning </a:t>
            </a:r>
            <a:br>
              <a:rPr lang="en-GB" sz="3200" b="1">
                <a:latin typeface="Quicksand"/>
                <a:ea typeface="Quicksand"/>
                <a:cs typeface="Quicksand"/>
                <a:sym typeface="Quicksand"/>
              </a:rPr>
            </a:b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Logistic Regression: Baseline model for simplicity and interpretability.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SVM: Handles non-linear boundaries, ideal for complex pollution prediction.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Random Forest: Captures feature interactions, strong predictive performance.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KNN: Simple proximity-based model for non-linear relationships.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●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Gradient Boosting: Improves accuracy, effective for imbalanced and complex datasets.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1200"/>
              </a:spcAft>
              <a:buNone/>
            </a:pPr>
            <a:endParaRPr sz="1500" u="sng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Methodology- Supervised Learning </a:t>
            </a:r>
            <a:br>
              <a:rPr lang="en-GB" sz="3200" b="1">
                <a:latin typeface="Quicksand"/>
                <a:ea typeface="Quicksand"/>
                <a:cs typeface="Quicksand"/>
                <a:sym typeface="Quicksand"/>
              </a:rPr>
            </a:b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en-GB" sz="1500" u="sng">
                <a:latin typeface="Quicksand"/>
                <a:ea typeface="Quicksand"/>
                <a:cs typeface="Quicksand"/>
                <a:sym typeface="Quicksand"/>
              </a:rPr>
              <a:t>Evaluation Metrics: </a:t>
            </a:r>
            <a:endParaRPr sz="1500" u="sng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F1 Score: Prioritized to balance precision and recall, ensuring a reliable evaluation for class imbalance handled by SMOTE. 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Accuracy and ROC-AUC: Used for a comprehensive evaluation of the model's general performance.</a:t>
            </a:r>
            <a:br>
              <a:rPr lang="en-GB" sz="1500">
                <a:latin typeface="Quicksand"/>
                <a:ea typeface="Quicksand"/>
                <a:cs typeface="Quicksand"/>
                <a:sym typeface="Quicksand"/>
              </a:rPr>
            </a:b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Quicksand"/>
              <a:buChar char="-"/>
            </a:pPr>
            <a:r>
              <a:rPr lang="en-GB" sz="1500">
                <a:latin typeface="Quicksand"/>
                <a:ea typeface="Quicksand"/>
                <a:cs typeface="Quicksand"/>
                <a:sym typeface="Quicksand"/>
              </a:rPr>
              <a:t>Precision and Recall: Ensured the models were correctly detecting pollution levels without false positives or false negatives, especially for the critical categories.</a:t>
            </a:r>
            <a:endParaRPr sz="15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1200"/>
              </a:spcAft>
              <a:buNone/>
            </a:pPr>
            <a:endParaRPr sz="15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Methodology- Unsupervised Learning</a:t>
            </a:r>
            <a:br>
              <a:rPr lang="en-GB" sz="3200" b="1">
                <a:latin typeface="Quicksand"/>
                <a:ea typeface="Quicksand"/>
                <a:cs typeface="Quicksand"/>
                <a:sym typeface="Quicksand"/>
              </a:rPr>
            </a:b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 Kernel PCA 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0" y="13790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 u="sng" dirty="0">
                <a:latin typeface="Quicksand"/>
                <a:ea typeface="Quicksand"/>
                <a:cs typeface="Quicksand"/>
                <a:sym typeface="Quicksand"/>
              </a:rPr>
              <a:t>Kernel PCA Visualization</a:t>
            </a:r>
            <a:endParaRPr sz="1500" b="1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Kernel PCA with a </a:t>
            </a:r>
            <a:r>
              <a:rPr lang="en-GB" sz="1500" b="1" dirty="0">
                <a:latin typeface="Quicksand"/>
                <a:ea typeface="Quicksand"/>
                <a:cs typeface="Quicksand"/>
                <a:sym typeface="Quicksand"/>
              </a:rPr>
              <a:t>sigmoid kernel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was applied to reduce the data to 2 dimensions, capturing non-linear patterns. The scatter plot shows the transformed data, revealing underlying structures or clusters that may not be visible in the original feature space.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27" name="Google Shape;3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618" y="2930236"/>
            <a:ext cx="3381558" cy="208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Silhouette Score VS Elbow Method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0" y="541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Silhouette Score: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 Measures how well clusters are defined by comparing the cohesion within clusters to the separation between them. The highest score (0.524) was achieved for </a:t>
            </a: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K=2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, indicating well-defined and distinct clusters.</a:t>
            </a:r>
            <a:endParaRPr sz="13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Elbow Method: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 Evaluates the optimal number of clusters by identifying the "elbow point" where the improvement in within-cluster inertia slows down. The method suggested </a:t>
            </a: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K=4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, but the clustering results showed less meaningful separation.</a:t>
            </a:r>
            <a:endParaRPr sz="13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Conclusion: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 After testing both </a:t>
            </a: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K=2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K=4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GB" sz="1300" b="1" dirty="0">
                <a:latin typeface="Quicksand"/>
                <a:ea typeface="Quicksand"/>
                <a:cs typeface="Quicksand"/>
                <a:sym typeface="Quicksand"/>
              </a:rPr>
              <a:t>K=2</a:t>
            </a:r>
            <a:r>
              <a:rPr lang="en-GB" sz="1300" dirty="0">
                <a:latin typeface="Quicksand"/>
                <a:ea typeface="Quicksand"/>
                <a:cs typeface="Quicksand"/>
                <a:sym typeface="Quicksand"/>
              </a:rPr>
              <a:t> was chosen as the optimal number of clusters due to its clearer partitioning and better Silhouette Score. This provided more distinct and interpretable clusters.</a:t>
            </a:r>
            <a:endParaRPr sz="13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34" name="Google Shape;3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3387436"/>
            <a:ext cx="3327912" cy="169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K-means Clustering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 u="sng" dirty="0">
                <a:latin typeface="Quicksand"/>
                <a:ea typeface="Quicksand"/>
                <a:cs typeface="Quicksand"/>
                <a:sym typeface="Quicksand"/>
              </a:rPr>
              <a:t>K-Means Clustering Visualization (K=2)</a:t>
            </a:r>
            <a:endParaRPr sz="1500" b="1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This code applies </a:t>
            </a:r>
            <a:r>
              <a:rPr lang="en-GB" sz="1500" b="1" dirty="0">
                <a:latin typeface="Quicksand"/>
                <a:ea typeface="Quicksand"/>
                <a:cs typeface="Quicksand"/>
                <a:sym typeface="Quicksand"/>
              </a:rPr>
              <a:t>K-Means clustering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with 2 clusters (</a:t>
            </a:r>
            <a:r>
              <a:rPr lang="en-GB" sz="1500" dirty="0">
                <a:solidFill>
                  <a:srgbClr val="188038"/>
                </a:solidFill>
                <a:latin typeface="Quicksand"/>
                <a:ea typeface="Quicksand"/>
                <a:cs typeface="Quicksand"/>
                <a:sym typeface="Quicksand"/>
              </a:rPr>
              <a:t>K=2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) on the Kernel PCA-transformed data. The scatter plot visualizes the clustering results, with each data point </a:t>
            </a:r>
            <a:r>
              <a:rPr lang="en-GB" sz="1500" dirty="0" err="1">
                <a:latin typeface="Quicksand"/>
                <a:ea typeface="Quicksand"/>
                <a:cs typeface="Quicksand"/>
                <a:sym typeface="Quicksand"/>
              </a:rPr>
              <a:t>color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based on its assigned cluster. This helps to assess how well the data is grouped into clusters, showcasing the separability of the two groups in the reduced feature space.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 b="1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716" y="2847109"/>
            <a:ext cx="3074567" cy="2171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Results &amp; Discussion 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Supervised Learning:</a:t>
            </a: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Best Model: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Random Forest and SVM emerged as top performers with F1-scores of 0.975 and 0.973, respectively. Random Forest was ultimately selected due to its robust performance across all pollution categories, minimal </a:t>
            </a:r>
            <a:r>
              <a:rPr lang="en-GB" sz="1500" dirty="0" err="1">
                <a:latin typeface="Quicksand"/>
                <a:ea typeface="Quicksand"/>
                <a:cs typeface="Quicksand"/>
                <a:sym typeface="Quicksand"/>
              </a:rPr>
              <a:t>overtting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, and better generalization abilities compared to SVM. 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0" y="1415000"/>
            <a:ext cx="55816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 dirty="0">
                <a:latin typeface="Quicksand"/>
                <a:ea typeface="Quicksand"/>
                <a:cs typeface="Quicksand"/>
                <a:sym typeface="Quicksand"/>
              </a:rPr>
              <a:t>Results &amp; Discussion </a:t>
            </a: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0" y="934574"/>
            <a:ext cx="9144000" cy="420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Unsupervised Learning:</a:t>
            </a: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500" dirty="0">
                <a:latin typeface="Quicksand" panose="020B0604020202020204" charset="0"/>
              </a:rPr>
              <a:t>Cluster 0 included older, heavier vehicles with a diverse range of weights and an average road usage of approximately 15 to 20 years.</a:t>
            </a:r>
            <a:br>
              <a:rPr lang="en-US" sz="1500" dirty="0">
                <a:latin typeface="Quicksand" panose="020B0604020202020204" charset="0"/>
              </a:rPr>
            </a:br>
            <a:r>
              <a:rPr lang="en-US" sz="1500" dirty="0">
                <a:latin typeface="Quicksand" panose="020B0604020202020204" charset="0"/>
              </a:rPr>
              <a:t>Cluster 1 consisted of newer, lighter vehicles, typically manufactured around 2014, with a shorter road usage period of approximately 5 to 10 years.</a:t>
            </a:r>
            <a:endParaRPr sz="1500" u="sng" dirty="0"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62" name="Google Shape;3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25" y="1537138"/>
            <a:ext cx="4109775" cy="214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175" y="1537138"/>
            <a:ext cx="4109750" cy="2146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 dirty="0">
                <a:latin typeface="Quicksand"/>
                <a:ea typeface="Quicksand"/>
                <a:cs typeface="Quicksand"/>
                <a:sym typeface="Quicksand"/>
              </a:rPr>
              <a:t>Unexpected Outcomes</a:t>
            </a: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  <a:p>
            <a:br>
              <a:rPr lang="en-GB" sz="1500" b="1" dirty="0">
                <a:latin typeface="Quicksand"/>
                <a:ea typeface="Quicksand"/>
                <a:cs typeface="Quicksand"/>
                <a:sym typeface="Quicksand"/>
              </a:rPr>
            </a:br>
            <a:endParaRPr lang="he-IL" sz="1500" b="1" dirty="0">
              <a:latin typeface="Quicksand"/>
              <a:ea typeface="Quicksand"/>
              <a:cs typeface="Quicksand"/>
              <a:sym typeface="Quicksand"/>
            </a:endParaRPr>
          </a:p>
          <a:p>
            <a:endParaRPr lang="he-IL" sz="1500" b="1" dirty="0">
              <a:latin typeface="Quicksand"/>
              <a:ea typeface="Quicksand"/>
              <a:cs typeface="Quicksand"/>
              <a:sym typeface="Quicksand"/>
            </a:endParaRPr>
          </a:p>
          <a:p>
            <a:br>
              <a:rPr lang="en-GB" sz="1500" b="1" dirty="0"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1500" dirty="0">
                <a:latin typeface="Quicksand" panose="020B0604020202020204" charset="0"/>
              </a:rPr>
              <a:t>Cluster 1, with newer private vehicles (average manufacturing year 2014), shows higher pollution levels compared to older vehicles in Cluster 0.</a:t>
            </a:r>
          </a:p>
          <a:p>
            <a:r>
              <a:rPr lang="en-US" sz="1500" dirty="0">
                <a:latin typeface="Quicksand" panose="020B0604020202020204" charset="0"/>
              </a:rPr>
              <a:t>The increase in emissions for newer vehicles is linked to regulatory changes affecting cars manufactured after 2008.</a:t>
            </a:r>
          </a:p>
          <a:p>
            <a:r>
              <a:rPr lang="en-US" sz="1500" dirty="0">
                <a:latin typeface="Quicksand" panose="020B0604020202020204" charset="0"/>
              </a:rPr>
              <a:t>These findings highlight the significant impact of the 2008 regulations on pollution levels in newer vehicles.</a:t>
            </a:r>
          </a:p>
          <a:p>
            <a:pPr marL="0" lvl="0" indent="0" algn="l" rtl="0">
              <a:lnSpc>
                <a:spcPct val="115000"/>
              </a:lnSpc>
              <a:spcBef>
                <a:spcPts val="3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212743C-BFCA-1AF2-2336-E685784E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27" y="833693"/>
            <a:ext cx="5657386" cy="2237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/>
        </p:nvSpPr>
        <p:spPr>
          <a:xfrm>
            <a:off x="0" y="0"/>
            <a:ext cx="91440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55500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200" b="1">
                <a:latin typeface="Quicksand"/>
                <a:ea typeface="Quicksand"/>
                <a:cs typeface="Quicksand"/>
                <a:sym typeface="Quicksand"/>
              </a:rPr>
              <a:t>Conclusion</a:t>
            </a:r>
            <a:endParaRPr sz="3200" b="1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0" y="934575"/>
            <a:ext cx="9144000" cy="3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Supervised Learning: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Achieved 97.5% accuracy in predicting vehicle pollution levels using Random Forest. 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u="sng" dirty="0">
                <a:latin typeface="Quicksand"/>
                <a:ea typeface="Quicksand"/>
                <a:cs typeface="Quicksand"/>
                <a:sym typeface="Quicksand"/>
              </a:rPr>
              <a:t>Unsupervised Analysis:</a:t>
            </a: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GB" sz="1500" dirty="0">
                <a:latin typeface="Quicksand" panose="020B0604020202020204" charset="0"/>
                <a:ea typeface="Quicksand"/>
                <a:cs typeface="Quicksand"/>
                <a:sym typeface="Quicksand"/>
              </a:rPr>
              <a:t>-</a:t>
            </a:r>
            <a:r>
              <a:rPr lang="en-US" sz="1500" dirty="0">
                <a:latin typeface="Quicksand" panose="020B0604020202020204" charset="0"/>
                <a:ea typeface="Quicksand"/>
                <a:cs typeface="Quicksand"/>
                <a:sym typeface="Quicksand"/>
              </a:rPr>
              <a:t>Discovered </a:t>
            </a:r>
            <a:r>
              <a:rPr lang="en-US" sz="1500" dirty="0">
                <a:latin typeface="Quicksand" panose="020B0604020202020204" charset="0"/>
              </a:rPr>
              <a:t>Cluster 0 represents older, heavier vehicles with an average road usage of 15 years, while Cluster 1 includes newer, lighter vehicles averaging 9.7 years.</a:t>
            </a:r>
            <a:r>
              <a:rPr lang="en-GB" sz="1500" dirty="0">
                <a:latin typeface="Quicksand" panose="020B0604020202020204" charset="0"/>
                <a:ea typeface="Quicksand"/>
                <a:cs typeface="Quicksand"/>
                <a:sym typeface="Quicksand"/>
              </a:rPr>
              <a:t> </a:t>
            </a:r>
            <a:endParaRPr sz="1500" dirty="0"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-Our analysis revealed that pollution levels are primarily influenced by regulatory changes, with</a:t>
            </a:r>
            <a:br>
              <a:rPr lang="en-GB" sz="1500" dirty="0">
                <a:latin typeface="Quicksand"/>
                <a:ea typeface="Quicksand"/>
                <a:cs typeface="Quicksand"/>
                <a:sym typeface="Quicksand"/>
              </a:rPr>
            </a:br>
            <a:r>
              <a:rPr lang="en-GB" sz="1500" dirty="0">
                <a:latin typeface="Quicksand"/>
                <a:ea typeface="Quicksand"/>
                <a:cs typeface="Quicksand"/>
                <a:sym typeface="Quicksand"/>
              </a:rPr>
              <a:t>stricter standards implemented in 2008 having a greater impact than vehicle age or weight.</a:t>
            </a: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 dirty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u="sng" dirty="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 txBox="1">
            <a:spLocks noGrp="1"/>
          </p:cNvSpPr>
          <p:nvPr>
            <p:ph type="title" idx="4294967295"/>
          </p:nvPr>
        </p:nvSpPr>
        <p:spPr>
          <a:xfrm>
            <a:off x="0" y="177925"/>
            <a:ext cx="9144000" cy="18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Thank you for listening!</a:t>
            </a:r>
            <a:endParaRPr sz="500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91" name="Google Shape;391;p30"/>
          <p:cNvPicPr preferRelativeResize="0"/>
          <p:nvPr/>
        </p:nvPicPr>
        <p:blipFill rotWithShape="1">
          <a:blip r:embed="rId3">
            <a:alphaModFix/>
          </a:blip>
          <a:srcRect t="12360" b="12360"/>
          <a:stretch/>
        </p:blipFill>
        <p:spPr>
          <a:xfrm>
            <a:off x="2218325" y="1444713"/>
            <a:ext cx="4489000" cy="2254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392" name="Google Shape;392;p30"/>
          <p:cNvCxnSpPr/>
          <p:nvPr/>
        </p:nvCxnSpPr>
        <p:spPr>
          <a:xfrm rot="10800000" flipH="1">
            <a:off x="784875" y="4300775"/>
            <a:ext cx="35100" cy="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160</TotalTime>
  <Words>1167</Words>
  <Application>Microsoft Office PowerPoint</Application>
  <PresentationFormat>‫הצגה על המסך (16:9)</PresentationFormat>
  <Paragraphs>115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Nunito</vt:lpstr>
      <vt:lpstr>Quicksand</vt:lpstr>
      <vt:lpstr>Arial</vt:lpstr>
      <vt:lpstr>Momentum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habsha</dc:creator>
  <cp:lastModifiedBy>איתי ראובן  חבשה</cp:lastModifiedBy>
  <cp:revision>6</cp:revision>
  <dcterms:modified xsi:type="dcterms:W3CDTF">2025-01-13T20:40:58Z</dcterms:modified>
</cp:coreProperties>
</file>